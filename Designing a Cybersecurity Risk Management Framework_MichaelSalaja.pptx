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42"/>
    <p:restoredTop sz="94671"/>
  </p:normalViewPr>
  <p:slideViewPr>
    <p:cSldViewPr snapToGrid="0">
      <p:cViewPr varScale="1">
        <p:scale>
          <a:sx n="145" d="100"/>
          <a:sy n="145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https://encrypted-tbn1.gstatic.com/licensed-image?q=tbn:ANd9GcQpldlx5Xaan3NSeyVPDK1WBEj0SCVkhau_2_YJQ8WdSxDcKdw7W5xsY1LS5BlzYHKAe5EKe5fOtJduBE-xJ2nsPYAm2-eCnfFTwKhXlbZLrzbaTo4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7E65-EEFE-DB76-04CD-85A4825DC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323" y="1400703"/>
            <a:ext cx="9448800" cy="1825096"/>
          </a:xfrm>
        </p:spPr>
        <p:txBody>
          <a:bodyPr>
            <a:normAutofit/>
          </a:bodyPr>
          <a:lstStyle/>
          <a:p>
            <a:r>
              <a:rPr lang="de-DE" sz="4400" dirty="0" err="1"/>
              <a:t>Cybersecurity</a:t>
            </a:r>
            <a:r>
              <a:rPr lang="de-DE" sz="4400" dirty="0"/>
              <a:t> Risk Management Framework</a:t>
            </a:r>
            <a:r>
              <a:rPr lang="en-US" sz="4400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4C5A4-FD16-FA37-90CA-3C551CCDD6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for a high-level cybersecurity risk management framework </a:t>
            </a:r>
          </a:p>
        </p:txBody>
      </p:sp>
    </p:spTree>
    <p:extLst>
      <p:ext uri="{BB962C8B-B14F-4D97-AF65-F5344CB8AC3E}">
        <p14:creationId xmlns:p14="http://schemas.microsoft.com/office/powerpoint/2010/main" val="2487788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15D22-2615-B14A-7EA0-E12AF0865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management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B623-90F8-869B-45EE-02322C57E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531555"/>
          </a:xfrm>
        </p:spPr>
        <p:txBody>
          <a:bodyPr/>
          <a:lstStyle/>
          <a:p>
            <a:r>
              <a:rPr lang="en-US" sz="4000" dirty="0"/>
              <a:t>Risk management: Identifying and managing any potential risks. The threat to an organization may come from the inside or from the outside and the risks management allows organizations to qualify those risks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24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540A-54CF-F07D-B4BB-343D801D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44FAA-788A-4905-0C2B-BC42E5B74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Defacement of uncertainty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Risk management helps to understand potential and emerging risks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A threat hunt for weaknesses before it gets out of control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Growth of the organization = Bigger risks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Refusal to succumb to risks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Internal threats vs. External threats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50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454A0-88C0-16FA-B0A5-276D59B9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1: Threat Modeling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04DFF-D740-155C-348A-DDA51E05F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b="1" dirty="0"/>
              <a:t>Description:</a:t>
            </a:r>
            <a:r>
              <a:rPr lang="en-US" dirty="0"/>
              <a:t> A proactive process for identifying potential threats, examine their potential attack vectors, and determining how they could impact a system before an attack occurs.</a:t>
            </a:r>
          </a:p>
          <a:p>
            <a:pPr lvl="0"/>
            <a:r>
              <a:rPr lang="en-US" b="1" dirty="0"/>
              <a:t>Thoroughness:</a:t>
            </a:r>
            <a:r>
              <a:rPr lang="en-US" dirty="0"/>
              <a:t> This method is highly profound in understanding what could go wrong, who might attack, and how to defend against the threat actor.</a:t>
            </a:r>
          </a:p>
          <a:p>
            <a:pPr lvl="0"/>
            <a:r>
              <a:rPr lang="en-US" b="1" dirty="0"/>
              <a:t>Practicality:</a:t>
            </a:r>
            <a:r>
              <a:rPr lang="en-US" dirty="0"/>
              <a:t> Practically, it is used during the phase of design or early in the system lifecycle</a:t>
            </a:r>
          </a:p>
          <a:p>
            <a:pPr lvl="0"/>
            <a:r>
              <a:rPr lang="en-US" dirty="0"/>
              <a:t>Key steps: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Asset identification &gt; (Systems, data, processes)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Threat Identification &gt; (Insiders, hackers, malwares)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Attack Surface recognition &gt; (APIs, entry points, network exposure)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Threat prioritization &gt; (Risk)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96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2624-5609-609E-6E10-1885D7258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Approach 2: Vulnerability Assessment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AFF61-FDC6-8D07-C849-936721E58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</a:t>
            </a:r>
            <a:r>
              <a:rPr lang="en-US" b="1" baseline="30000" dirty="0"/>
              <a:t>nd</a:t>
            </a:r>
            <a:r>
              <a:rPr lang="en-US" b="1" dirty="0"/>
              <a:t> Approach Vulnerability Assessment</a:t>
            </a:r>
            <a:endParaRPr lang="en-US" dirty="0"/>
          </a:p>
          <a:p>
            <a:pPr lvl="0"/>
            <a:r>
              <a:rPr lang="en-US" b="1" dirty="0"/>
              <a:t>Description:</a:t>
            </a:r>
            <a:r>
              <a:rPr lang="en-US" dirty="0"/>
              <a:t> Vulnerability assessments are a reactive and operational process that scans and evaluates systems for known weaknesses that could be exploited by threats. </a:t>
            </a:r>
          </a:p>
          <a:p>
            <a:pPr lvl="0"/>
            <a:r>
              <a:rPr lang="en-US" b="1" dirty="0"/>
              <a:t>Goal &gt; </a:t>
            </a:r>
            <a:r>
              <a:rPr lang="en-US" dirty="0"/>
              <a:t>Vulnerability exposure and Attack surface Reduction. It used after deployment or an ongoing basis</a:t>
            </a:r>
          </a:p>
          <a:p>
            <a:pPr lvl="0"/>
            <a:r>
              <a:rPr lang="en-US" dirty="0"/>
              <a:t>Scan system &gt; Nessus or </a:t>
            </a:r>
            <a:r>
              <a:rPr lang="en-US" dirty="0" err="1"/>
              <a:t>OPenVAS</a:t>
            </a:r>
            <a:endParaRPr lang="en-US" dirty="0"/>
          </a:p>
          <a:p>
            <a:pPr lvl="0"/>
            <a:r>
              <a:rPr lang="en-US" dirty="0"/>
              <a:t>Vulnerabilities Identification (Outdated software, misconfigurations)</a:t>
            </a:r>
          </a:p>
          <a:p>
            <a:pPr lvl="0"/>
            <a:r>
              <a:rPr lang="en-US" dirty="0"/>
              <a:t>Severity assignment through CVSS &gt; Common Vulnerable Scoring System or risk rating</a:t>
            </a:r>
          </a:p>
          <a:p>
            <a:pPr lvl="0"/>
            <a:r>
              <a:rPr lang="en-US" dirty="0"/>
              <a:t>Remediation recommendation (Patch, harden, reconfigure)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6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3B86-3D32-298E-E78D-A5C169B47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Comparison: Threat Modeling vs. Vulnerability Assessments</a:t>
            </a:r>
            <a:br>
              <a:rPr lang="en-US" sz="3200" dirty="0"/>
            </a:b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445BC9-8C37-7054-2BAE-33A153C92E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8913265"/>
              </p:ext>
            </p:extLst>
          </p:nvPr>
        </p:nvGraphicFramePr>
        <p:xfrm>
          <a:off x="685800" y="2193925"/>
          <a:ext cx="10744200" cy="4169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128999714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13091476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982235207"/>
                    </a:ext>
                  </a:extLst>
                </a:gridCol>
              </a:tblGrid>
              <a:tr h="676234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Aspect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Threat Modeling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Vulnerability Assessments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467050"/>
                  </a:ext>
                </a:extLst>
              </a:tr>
              <a:tr h="67623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Thoroughness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 for design and logical flaws.</a:t>
                      </a:r>
                      <a:endParaRPr lang="en-US" sz="1600" kern="10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 for known technical flaws.</a:t>
                      </a:r>
                      <a:endParaRPr lang="en-US" sz="1600" kern="10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2249942"/>
                  </a:ext>
                </a:extLst>
              </a:tr>
              <a:tr h="67623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Proactiveness</a:t>
                      </a:r>
                      <a:endParaRPr lang="en-US" sz="1600" kern="10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Proactive; done during design and development.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Reactive; finds existing vulnerabilities.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0843901"/>
                  </a:ext>
                </a:extLst>
              </a:tr>
              <a:tr h="67623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Risk Vectors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Covers a wide range (insider, external, human error).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covers technical, known threats.</a:t>
                      </a:r>
                      <a:endParaRPr lang="en-US" sz="1600" kern="10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0895311"/>
                  </a:ext>
                </a:extLst>
              </a:tr>
              <a:tr h="67623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Resource</a:t>
                      </a:r>
                      <a:endParaRPr lang="en-US" sz="1600" kern="10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deep technical and architectural expertise.</a:t>
                      </a:r>
                      <a:endParaRPr lang="en-US" sz="1600" kern="10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0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requires automated tools and analysis.</a:t>
                      </a:r>
                      <a:endParaRPr lang="en-US" sz="1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9768899"/>
                  </a:ext>
                </a:extLst>
              </a:tr>
              <a:tr h="676234">
                <a:tc>
                  <a:txBody>
                    <a:bodyPr/>
                    <a:lstStyle/>
                    <a:p>
                      <a:endParaRPr lang="en-US" sz="24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07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62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902F-73C9-6A30-6AC7-8437C51E6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269" y="984738"/>
            <a:ext cx="8610600" cy="4888523"/>
          </a:xfrm>
        </p:spPr>
        <p:txBody>
          <a:bodyPr>
            <a:normAutofit/>
          </a:bodyPr>
          <a:lstStyle/>
          <a:p>
            <a:r>
              <a:rPr lang="en-US" b="1" dirty="0"/>
              <a:t>Risk Assessment Criteria and Prioritization</a:t>
            </a:r>
            <a:br>
              <a:rPr lang="en-US" dirty="0"/>
            </a:b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247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25FB-B860-2A4F-0988-C0DB973A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Risk Assessment Criteria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636FB-940B-EFE0-5DFC-4A72E7849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sz="2800" dirty="0"/>
              <a:t>Description: Risk assessment is all about determining which risks matter most and how to deal with them. </a:t>
            </a:r>
          </a:p>
          <a:p>
            <a:pPr lvl="0"/>
            <a:r>
              <a:rPr lang="en-US" sz="2800" dirty="0"/>
              <a:t>Assessment Criteria</a:t>
            </a:r>
          </a:p>
          <a:p>
            <a:pPr lvl="0">
              <a:buFont typeface="Wingdings" pitchFamily="2" charset="2"/>
              <a:buChar char="v"/>
            </a:pPr>
            <a:r>
              <a:rPr lang="en-US" sz="2800" dirty="0"/>
              <a:t>Likelihood (Probability)</a:t>
            </a:r>
          </a:p>
          <a:p>
            <a:pPr lvl="0">
              <a:buFont typeface="Wingdings" pitchFamily="2" charset="2"/>
              <a:buChar char="v"/>
            </a:pPr>
            <a:r>
              <a:rPr lang="en-US" sz="2800" dirty="0"/>
              <a:t>Scales often used:</a:t>
            </a:r>
          </a:p>
          <a:p>
            <a:pPr lvl="0">
              <a:buFont typeface="Wingdings" pitchFamily="2" charset="2"/>
              <a:buChar char="q"/>
            </a:pPr>
            <a:r>
              <a:rPr lang="en-US" sz="2800" dirty="0"/>
              <a:t>Qualitative: Low / Medium / High</a:t>
            </a:r>
          </a:p>
          <a:p>
            <a:pPr lvl="0">
              <a:buFont typeface="Wingdings" pitchFamily="2" charset="2"/>
              <a:buChar char="q"/>
            </a:pPr>
            <a:r>
              <a:rPr lang="en-US" sz="2800" dirty="0"/>
              <a:t>Quantitative: 0-1 or 1-5 scale (e.g. 1= rare, 5 0 almost certain)</a:t>
            </a:r>
          </a:p>
          <a:p>
            <a:pPr lvl="0"/>
            <a:r>
              <a:rPr lang="en-US" sz="2800" dirty="0"/>
              <a:t>Financial Impact: Potential monetary loss.</a:t>
            </a:r>
          </a:p>
          <a:p>
            <a:pPr lvl="0"/>
            <a:r>
              <a:rPr lang="en-US" sz="2800" dirty="0"/>
              <a:t>Reputational Damage: Damage to the company's reputation and customer trust.</a:t>
            </a:r>
          </a:p>
          <a:p>
            <a:pPr lvl="0"/>
            <a:r>
              <a:rPr lang="en-US" sz="2800" dirty="0"/>
              <a:t>Operational Disruption: Impact on business continuity and service delivery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4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EDFA9-05D0-0340-A72F-233B5CEF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Prioritization Method 1: Risk Matrix (Qualitative Analysis)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C099-FF8E-C170-A13F-4C85FAC57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Description:</a:t>
            </a:r>
            <a:r>
              <a:rPr lang="en-US" dirty="0"/>
              <a:t> This is a visual tool that plots risks on a matrix with Likelihood on one axis and Impact on the other. This creates zones of high, medium, and low risk, providing a simple way to prioritize. </a:t>
            </a:r>
          </a:p>
          <a:p>
            <a:pPr lvl="0"/>
            <a:r>
              <a:rPr lang="en-US" b="1" dirty="0"/>
              <a:t>Effectiveness:</a:t>
            </a:r>
            <a:r>
              <a:rPr lang="en-US" dirty="0"/>
              <a:t> Highly effective for quick, high-level prioritization and communication. It visually highlights the most critical risks, making it easy for both technical and non-technical stakeholders to understand.</a:t>
            </a:r>
          </a:p>
          <a:p>
            <a:pPr lvl="0"/>
            <a:r>
              <a:rPr lang="en-US" b="1" dirty="0"/>
              <a:t>Usability:</a:t>
            </a:r>
            <a:r>
              <a:rPr lang="en-US" dirty="0"/>
              <a:t> It's intuitive and easy to use. Decision-making is simplified because risks in the "High-High" zone are clearly the top priority for treatment.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719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7FCB3-4396-AB46-721F-D2DF0FB65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1512" y="-78059"/>
            <a:ext cx="22519317" cy="902720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F2A22FF-0E9F-4781-8E76-9A13A68FA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98380" y="-334538"/>
            <a:ext cx="2537387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51" name="Picture 1" descr="Bildmotiv: a risk matrix">
            <a:extLst>
              <a:ext uri="{FF2B5EF4-FFF2-40B4-BE49-F238E27FC236}">
                <a16:creationId xmlns:a16="http://schemas.microsoft.com/office/drawing/2014/main" id="{67D3ABCE-7565-2224-726D-B2AFBA4A1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8883" y="-78059"/>
            <a:ext cx="12369766" cy="795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434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3A62-254B-957C-483A-98958D13C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Risk Treatment Options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0459E-1BE2-A961-9B1F-B38B2FDBA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After risks are assessed and prioritized, a treatment strategy must be chosen. </a:t>
            </a:r>
          </a:p>
        </p:txBody>
      </p:sp>
    </p:spTree>
    <p:extLst>
      <p:ext uri="{BB962C8B-B14F-4D97-AF65-F5344CB8AC3E}">
        <p14:creationId xmlns:p14="http://schemas.microsoft.com/office/powerpoint/2010/main" val="1801227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4926F-F958-CB34-024A-9A84D506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190" y="764373"/>
            <a:ext cx="8395010" cy="107557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Risk Option 1: Risk Transfer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7F7F4-854D-7D5C-DBDC-7EF1EEFEE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18010"/>
            <a:ext cx="10820400" cy="463890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Core function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Shift the risk under the raider of another Party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Purchase Cybersecurity insurance</a:t>
            </a:r>
          </a:p>
          <a:p>
            <a:pPr lvl="0"/>
            <a:r>
              <a:rPr lang="en-US" b="1" dirty="0"/>
              <a:t>Cost &amp; Practicality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Of course, the purchase does not come without cost</a:t>
            </a:r>
          </a:p>
          <a:p>
            <a:pPr lvl="0"/>
            <a:r>
              <a:rPr lang="en-US" dirty="0"/>
              <a:t>Effectiveness: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Financial Recovery leverage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Safety net</a:t>
            </a:r>
          </a:p>
          <a:p>
            <a:pPr lvl="0"/>
            <a:r>
              <a:rPr lang="en-US" dirty="0"/>
              <a:t>Side Effect?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False Sense of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09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9EB8-321C-C4B5-1F5A-A02516E8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Risk Option 2: Risk Mitigation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EE4F-F360-E611-E40C-6CB1513D0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Core function</a:t>
            </a:r>
          </a:p>
          <a:p>
            <a:pPr lvl="0">
              <a:buFont typeface="Wingdings" pitchFamily="2" charset="2"/>
              <a:buChar char="v"/>
            </a:pPr>
            <a:r>
              <a:rPr lang="en-US" b="1" dirty="0"/>
              <a:t>Risk level Reduction</a:t>
            </a:r>
            <a:r>
              <a:rPr lang="en-US" dirty="0"/>
              <a:t>: This involves the implementation of security controls, or you invest in security system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Example:</a:t>
            </a:r>
          </a:p>
          <a:p>
            <a:pPr lvl="0">
              <a:buFont typeface="Wingdings" pitchFamily="2" charset="2"/>
              <a:buChar char="ü"/>
            </a:pPr>
            <a:r>
              <a:rPr lang="en-US" dirty="0"/>
              <a:t>Firewall Deployment for tight security purpose &gt; (NGFW) &amp; UTM to block a malicious network traffic </a:t>
            </a:r>
          </a:p>
          <a:p>
            <a:pPr lvl="0"/>
            <a:r>
              <a:rPr lang="en-US" b="1" dirty="0"/>
              <a:t>Cost &amp; Practicality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cost varies widely depending on the control (e.g., purchasing a new firewall vs. enabling MFA).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986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5FBE-20AA-24E9-4C67-73BAA5EF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Risk Option 2: Risk Mitigation</a:t>
            </a:r>
            <a:br>
              <a:rPr lang="en-US" dirty="0"/>
            </a:br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C1DAE-037A-2F86-8DEA-C330E9AD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Long-Term Effectiveness:</a:t>
            </a:r>
            <a:r>
              <a:rPr lang="en-US" dirty="0"/>
              <a:t>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Highly effective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Mitigative controls address the root cause of the risk and provide a long-term solution by hardening the environment against threats.</a:t>
            </a:r>
          </a:p>
          <a:p>
            <a:pPr lvl="0"/>
            <a:r>
              <a:rPr lang="en-US" b="1" dirty="0"/>
              <a:t>Potential Side Effects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dirty="0"/>
              <a:t>Impact on operational efficiency (e.g., a strict firewall rule might block a legitimate service) OR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User inconvenience (e.g., MFA adds a step to the login process)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At the end of the day, authentication matters.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09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22A1-7082-98C5-337C-5A060F1F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113C5-729B-F415-CBDE-0DB2D6EB1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89933"/>
            <a:ext cx="8610600" cy="1249106"/>
          </a:xfrm>
        </p:spPr>
        <p:txBody>
          <a:bodyPr>
            <a:noAutofit/>
          </a:bodyPr>
          <a:lstStyle/>
          <a:p>
            <a:r>
              <a:rPr lang="en-US" sz="2800" b="1" dirty="0"/>
              <a:t>Comparison: Threat Modeling vs. Vulnerability Assessments</a:t>
            </a:r>
            <a:br>
              <a:rPr lang="en-US" sz="3200" dirty="0"/>
            </a:b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A23299-8EDF-B8F7-1ED4-83AA178A1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247011"/>
              </p:ext>
            </p:extLst>
          </p:nvPr>
        </p:nvGraphicFramePr>
        <p:xfrm>
          <a:off x="596590" y="1539038"/>
          <a:ext cx="10744200" cy="5318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128999714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13091476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982235207"/>
                    </a:ext>
                  </a:extLst>
                </a:gridCol>
              </a:tblGrid>
              <a:tr h="73267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Risk Mitigation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Risk Transfer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36467050"/>
                  </a:ext>
                </a:extLst>
              </a:tr>
              <a:tr h="96340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Reduces the likelihood or impact of a risk.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Shifts the financial consequence of a risk.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2249942"/>
                  </a:ext>
                </a:extLst>
              </a:tr>
              <a:tr h="96340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 dirty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Varies; can be high or low depending on the control.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Insurance premium.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0843901"/>
                  </a:ext>
                </a:extLst>
              </a:tr>
              <a:tr h="96340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Long-term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Proactive and provides a long-term security solution.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Reactive; provides financial recovery but no prevention.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0895311"/>
                  </a:ext>
                </a:extLst>
              </a:tr>
              <a:tr h="96340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Side Effects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Can impact operations or user experience.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Can lead to a false sense of security.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9768899"/>
                  </a:ext>
                </a:extLst>
              </a:tr>
              <a:tr h="73267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Risk Mitigation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Risk Transfer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507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47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34B1-079F-46EB-CB5C-51703777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</a:t>
            </a:r>
            <a:br>
              <a:rPr lang="en-US" dirty="0"/>
            </a:br>
            <a:r>
              <a:rPr lang="en-US" b="1" dirty="0"/>
              <a:t>Risk Acceptance Criteria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DABCB-A8F9-38DC-DB53-0F75E8046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Risk Acceptance </a:t>
            </a:r>
            <a:endParaRPr lang="en-US" dirty="0"/>
          </a:p>
          <a:p>
            <a:pPr lvl="0">
              <a:buFont typeface="Wingdings" pitchFamily="2" charset="2"/>
              <a:buChar char="v"/>
            </a:pPr>
            <a:r>
              <a:rPr lang="en-US" b="1" dirty="0"/>
              <a:t>A business decision: Accept the risks that are detected</a:t>
            </a:r>
            <a:endParaRPr lang="en-US" dirty="0"/>
          </a:p>
          <a:p>
            <a:r>
              <a:rPr lang="en-US" b="1" dirty="0"/>
              <a:t>Acceptance Criteria: </a:t>
            </a:r>
            <a:endParaRPr lang="en-US" dirty="0"/>
          </a:p>
          <a:p>
            <a:pPr lvl="0"/>
            <a:r>
              <a:rPr lang="en-US" b="1" dirty="0"/>
              <a:t>Residual Risk:</a:t>
            </a:r>
            <a:r>
              <a:rPr lang="en-US" dirty="0"/>
              <a:t> The remaining risk after mitigation efforts have been implemented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Accept with Exemptions:</a:t>
            </a:r>
          </a:p>
          <a:p>
            <a:pPr marL="0" lvl="0" indent="0">
              <a:buNone/>
            </a:pPr>
            <a:r>
              <a:rPr lang="en-US" dirty="0"/>
              <a:t>&gt;A security policy or regulation cannot be followed</a:t>
            </a:r>
          </a:p>
          <a:p>
            <a:pPr marL="0" lvl="0" indent="0">
              <a:buNone/>
            </a:pPr>
            <a:r>
              <a:rPr lang="en-US" dirty="0"/>
              <a:t>&gt;Exemptions may need an approval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519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82F9-A354-910E-1BCD-715AC9021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Risk Acceptance Criteria:</a:t>
            </a:r>
            <a:br>
              <a:rPr lang="en-US" dirty="0"/>
            </a:br>
            <a:r>
              <a:rPr lang="en-US" dirty="0"/>
              <a:t>Continuity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0771D-E4D1-132C-A84A-684E264AE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Cost-Benefit Analysis:</a:t>
            </a:r>
            <a:r>
              <a:rPr lang="en-US" dirty="0"/>
              <a:t> The cost of further mitigation efforts is greater than the potential impact of the risk.</a:t>
            </a:r>
          </a:p>
          <a:p>
            <a:pPr lvl="0"/>
            <a:r>
              <a:rPr lang="en-US" b="1" dirty="0"/>
              <a:t>Business Impact:</a:t>
            </a:r>
            <a:r>
              <a:rPr lang="en-US" dirty="0"/>
              <a:t>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risk with minimal impact on operations, reputation, or finances, and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The organization is prepared for a potential loss.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7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A7D8-296F-B3E8-A725-0AD39EAF4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Documentation and Monitoring Process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DA3A7-0C33-D485-DEEF-862BC8F08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Documentation: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 central risk register or database for documentation all accepted risks. 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A unique risk ID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Description of the risk.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Original Likelihood and Impact scores.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Justification for accepting the risk (referencing the criteria above).</a:t>
            </a:r>
          </a:p>
          <a:p>
            <a:pPr lvl="0">
              <a:buFont typeface="Wingdings" pitchFamily="2" charset="2"/>
              <a:buChar char="v"/>
            </a:pPr>
            <a:r>
              <a:rPr lang="en-US" dirty="0"/>
              <a:t>Sign-off from the risk owner and relevant management.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663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A11F-1FDD-8D11-2575-FBB4C85C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A18D6-8B33-E6C9-59DE-FBEBD1719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600" dirty="0"/>
              <a:t>Periodic review (e.g., quarterly or annually) to ensure that the initial assumptions are still valid. </a:t>
            </a:r>
          </a:p>
          <a:p>
            <a:pPr lvl="0"/>
            <a:r>
              <a:rPr lang="en-US" sz="3600" dirty="0"/>
              <a:t>Changes in threat landscape, new vulnerabilities, or changes in the business environment may require re-evaluation.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147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624D-A4C2-D801-DD3C-B76DC592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Ongoing Monitoring and Risk Management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55AF9-9BE0-131F-CF1C-FD8E38067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Cybersecurity risk management is an ongoing process, not a one-time event. </a:t>
            </a:r>
          </a:p>
          <a:p>
            <a:pPr>
              <a:buFont typeface="Wingdings" pitchFamily="2" charset="2"/>
              <a:buChar char="v"/>
            </a:pPr>
            <a:r>
              <a:rPr lang="en-US" sz="3600" dirty="0"/>
              <a:t>Two key approaches that ensure continuous monitoring can be adopted:</a:t>
            </a:r>
          </a:p>
          <a:p>
            <a:pPr>
              <a:buFont typeface="Wingdings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31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20A40-0F49-248F-0199-A169A9B5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Approach 1: Automated Monitoring Tools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293F7-8074-A80F-99EB-A4F86FD1C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/>
              <a:t>Technology for continuous scanning of the network and systems</a:t>
            </a:r>
          </a:p>
          <a:p>
            <a:pPr lvl="0">
              <a:buFont typeface="Wingdings" pitchFamily="2" charset="2"/>
              <a:buChar char="v"/>
            </a:pPr>
            <a:r>
              <a:rPr lang="en-US" sz="2800" b="1" dirty="0"/>
              <a:t>SIEM (Security Information and Event Management):</a:t>
            </a:r>
            <a:r>
              <a:rPr lang="en-US" sz="2800" dirty="0"/>
              <a:t> Aggregation and analysis of loss from various sources</a:t>
            </a:r>
          </a:p>
          <a:p>
            <a:pPr lvl="0">
              <a:buFont typeface="Wingdings" pitchFamily="2" charset="2"/>
              <a:buChar char="v"/>
            </a:pPr>
            <a:r>
              <a:rPr lang="en-US" sz="2800" b="1" dirty="0"/>
              <a:t>IDS (Intrusion Detection System): Monitoring of network traffic and alert</a:t>
            </a:r>
            <a:endParaRPr lang="en-US" sz="2800" dirty="0"/>
          </a:p>
          <a:p>
            <a:pPr lvl="0">
              <a:buFont typeface="Wingdings" pitchFamily="2" charset="2"/>
              <a:buChar char="v"/>
            </a:pPr>
            <a:r>
              <a:rPr lang="en-US" sz="2800" b="1" dirty="0"/>
              <a:t>IPS (Intrusion Prevention System): Monitoring of network traffic and response to potential suspicious activities on the network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968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6596-C5FD-98B6-3270-6710DF2E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Approach 1: Automated Monitoring Tools: Continuity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925E4-C040-EE8E-0F2B-B447FC6D8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sz="3200" b="1" dirty="0"/>
              <a:t>Effectiveness:</a:t>
            </a:r>
            <a:r>
              <a:rPr lang="en-US" sz="3200" dirty="0"/>
              <a:t> </a:t>
            </a:r>
          </a:p>
          <a:p>
            <a:pPr lvl="0">
              <a:buFont typeface="Wingdings" pitchFamily="2" charset="2"/>
              <a:buChar char="v"/>
            </a:pPr>
            <a:r>
              <a:rPr lang="en-US" sz="3200" dirty="0"/>
              <a:t>Provision of </a:t>
            </a:r>
            <a:r>
              <a:rPr lang="en-US" sz="3200" b="1" dirty="0"/>
              <a:t>real-time detection</a:t>
            </a:r>
            <a:r>
              <a:rPr lang="en-US" sz="3200" dirty="0"/>
              <a:t> of threats, vulnerabilities, and policy violations to mitigate emerging risks.</a:t>
            </a:r>
          </a:p>
          <a:p>
            <a:pPr lvl="0"/>
            <a:r>
              <a:rPr lang="en-US" sz="3200" b="1" dirty="0"/>
              <a:t>Resource Requirements:</a:t>
            </a:r>
            <a:r>
              <a:rPr lang="en-US" sz="3200" dirty="0"/>
              <a:t> </a:t>
            </a:r>
          </a:p>
          <a:p>
            <a:pPr lvl="0">
              <a:buFont typeface="Wingdings" pitchFamily="2" charset="2"/>
              <a:buChar char="v"/>
            </a:pPr>
            <a:r>
              <a:rPr lang="en-US" sz="3200" dirty="0"/>
              <a:t>A significant upfront investment in technology is required</a:t>
            </a:r>
          </a:p>
          <a:p>
            <a:pPr lvl="0">
              <a:buFont typeface="Wingdings" pitchFamily="2" charset="2"/>
              <a:buChar char="v"/>
            </a:pPr>
            <a:r>
              <a:rPr lang="en-US" sz="3200" dirty="0"/>
              <a:t>skilled personnel to configure, manage, and respond to alerts.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81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F89E3-1122-ACED-0731-576DCB1C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Approach 2: Periodic Assessments and Audits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766DA-9B69-5C3E-5D6E-B0D1B2E22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317752"/>
          </a:xfrm>
        </p:spPr>
        <p:txBody>
          <a:bodyPr>
            <a:normAutofit/>
          </a:bodyPr>
          <a:lstStyle/>
          <a:p>
            <a:pPr lvl="0"/>
            <a:r>
              <a:rPr lang="en-US" sz="2800" b="1" dirty="0"/>
              <a:t>Description: </a:t>
            </a:r>
            <a:r>
              <a:rPr lang="en-US" sz="2800" dirty="0"/>
              <a:t>This involves a scheduled and orchestrated</a:t>
            </a:r>
            <a:r>
              <a:rPr lang="en-US" sz="2800" b="1" dirty="0"/>
              <a:t> i</a:t>
            </a:r>
            <a:r>
              <a:rPr lang="en-US" sz="2800" dirty="0"/>
              <a:t>n-depth reviews of the organization’s security posture.</a:t>
            </a:r>
          </a:p>
          <a:p>
            <a:pPr lvl="0"/>
            <a:r>
              <a:rPr lang="en-US" sz="2800" b="1" dirty="0"/>
              <a:t>Example: Penetration testing, </a:t>
            </a:r>
            <a:r>
              <a:rPr lang="en-US" sz="2800" dirty="0"/>
              <a:t>internal policy reviews or third-party security audits</a:t>
            </a:r>
          </a:p>
          <a:p>
            <a:pPr lvl="0"/>
            <a:r>
              <a:rPr lang="en-US" sz="2800" b="1" dirty="0"/>
              <a:t>Effectiveness:</a:t>
            </a:r>
            <a:r>
              <a:rPr lang="en-US" sz="2800" dirty="0"/>
              <a:t> Highly effective for in-depth analysis of the security posture. </a:t>
            </a:r>
          </a:p>
          <a:p>
            <a:pPr lvl="0"/>
            <a:r>
              <a:rPr lang="en-US" sz="2800" dirty="0"/>
              <a:t>Discovery of complex vulnerabilities and control weaknesses that automated tools might miss. </a:t>
            </a:r>
          </a:p>
          <a:p>
            <a:pPr lvl="0"/>
            <a:r>
              <a:rPr lang="en-US" sz="2800" dirty="0"/>
              <a:t>Compliance with regulations and internal policies.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4448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90B09-E338-7035-533B-4736C676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Periodic Assessments and Audits: continuity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5A8A-DE09-A1BF-9571-94245B653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000" b="1" dirty="0"/>
              <a:t>Resource Requirements</a:t>
            </a:r>
            <a:endParaRPr lang="en-US" sz="4000" dirty="0"/>
          </a:p>
          <a:p>
            <a:pPr lvl="0"/>
            <a:r>
              <a:rPr lang="en-US" sz="4000" dirty="0"/>
              <a:t>Manual usage</a:t>
            </a:r>
          </a:p>
          <a:p>
            <a:pPr lvl="0"/>
            <a:r>
              <a:rPr lang="en-US" sz="4000" dirty="0"/>
              <a:t>Costly and disruptive resource-intensive efforts </a:t>
            </a:r>
          </a:p>
          <a:p>
            <a:pPr lvl="0"/>
            <a:r>
              <a:rPr lang="en-US" sz="4000" dirty="0"/>
              <a:t>No continuity and only provide a snapshot in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22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8C51E-1311-C887-CDF6-5DF24D5C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A79D-9F32-2922-EDDB-FECD23BE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89933"/>
            <a:ext cx="8610600" cy="1249106"/>
          </a:xfrm>
        </p:spPr>
        <p:txBody>
          <a:bodyPr>
            <a:noAutofit/>
          </a:bodyPr>
          <a:lstStyle/>
          <a:p>
            <a:r>
              <a:rPr lang="en-US" sz="2800" b="1" dirty="0"/>
              <a:t>Comparison: Threat Modeling vs. Vulnerability Assessments</a:t>
            </a:r>
            <a:br>
              <a:rPr lang="en-US" sz="3200" dirty="0"/>
            </a:b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9A2875-27F4-25B8-6C22-1ED866F621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8888687"/>
              </p:ext>
            </p:extLst>
          </p:nvPr>
        </p:nvGraphicFramePr>
        <p:xfrm>
          <a:off x="462775" y="1215653"/>
          <a:ext cx="10744200" cy="547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128999714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1309147600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982235207"/>
                    </a:ext>
                  </a:extLst>
                </a:gridCol>
              </a:tblGrid>
              <a:tr h="73267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Monitoring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Periodic Assessments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36467050"/>
                  </a:ext>
                </a:extLst>
              </a:tr>
              <a:tr h="96340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threat detection and continuous visibility.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In-depth analysis and validation of controls.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2249942"/>
                  </a:ext>
                </a:extLst>
              </a:tr>
              <a:tr h="96340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 dirty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Resource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 initial cost, but efficient for ongoing use.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 and manual effort for each engagement.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80843901"/>
                  </a:ext>
                </a:extLst>
              </a:tr>
              <a:tr h="96340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Nature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and passive.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Scheduled and active (point-in-time).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0895311"/>
                  </a:ext>
                </a:extLst>
              </a:tr>
              <a:tr h="963404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Monitoring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Periodic Assessments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09768899"/>
                  </a:ext>
                </a:extLst>
              </a:tr>
              <a:tr h="73267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Effectiveness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threat detection and continuous visibility.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Baskerville Old Face" panose="02020602080505020303" pitchFamily="18" charset="77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In-depth analysis and validation of controls.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507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087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858E-F12D-5CFF-92E7-8E31549C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A2FB9-1F3D-B432-1AC8-E8035C52C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Mid-Size company should use both approaches. Why? </a:t>
            </a:r>
          </a:p>
          <a:p>
            <a:pPr lvl="0">
              <a:buFont typeface="Wingdings" pitchFamily="2" charset="2"/>
              <a:buChar char="v"/>
            </a:pPr>
            <a:r>
              <a:rPr lang="en-US" sz="3600" dirty="0"/>
              <a:t>Automated monitoring provides the continuous, day-to-day vigilance</a:t>
            </a:r>
          </a:p>
          <a:p>
            <a:pPr lvl="0">
              <a:buFont typeface="Wingdings" pitchFamily="2" charset="2"/>
              <a:buChar char="v"/>
            </a:pPr>
            <a:r>
              <a:rPr lang="en-US" sz="3600" dirty="0"/>
              <a:t>Periodic assessments and audits offer a crucial "reality check" to validate controls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38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EFEBA-7CBC-8A8E-0025-6F9AF3B4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listening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796BE-1DAB-00C3-47F7-6C4F1043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Any question?</a:t>
            </a:r>
          </a:p>
        </p:txBody>
      </p:sp>
    </p:spTree>
    <p:extLst>
      <p:ext uri="{BB962C8B-B14F-4D97-AF65-F5344CB8AC3E}">
        <p14:creationId xmlns:p14="http://schemas.microsoft.com/office/powerpoint/2010/main" val="371875459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106</TotalTime>
  <Words>1453</Words>
  <Application>Microsoft Macintosh PowerPoint</Application>
  <PresentationFormat>Widescreen</PresentationFormat>
  <Paragraphs>180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Baskerville Old Face</vt:lpstr>
      <vt:lpstr>Century Gothic</vt:lpstr>
      <vt:lpstr>Wingdings</vt:lpstr>
      <vt:lpstr>Vapor Trail</vt:lpstr>
      <vt:lpstr>Cybersecurity Risk Management Framework </vt:lpstr>
      <vt:lpstr>Risk management framework</vt:lpstr>
      <vt:lpstr>Risk identification</vt:lpstr>
      <vt:lpstr>Approach 1: Threat Modeling </vt:lpstr>
      <vt:lpstr>Approach 2: Vulnerability Assessment </vt:lpstr>
      <vt:lpstr>Comparison: Threat Modeling vs. Vulnerability Assessments </vt:lpstr>
      <vt:lpstr>Risk Assessment Criteria and Prioritization  </vt:lpstr>
      <vt:lpstr>Risk Assessment Criteria </vt:lpstr>
      <vt:lpstr>Prioritization Method 1: Risk Matrix (Qualitative Analysis) </vt:lpstr>
      <vt:lpstr>PowerPoint Presentation</vt:lpstr>
      <vt:lpstr>Risk Treatment Options </vt:lpstr>
      <vt:lpstr>Risk Option 1: Risk Transfer </vt:lpstr>
      <vt:lpstr>Risk Option 2: Risk Mitigation </vt:lpstr>
      <vt:lpstr>Risk Option 2: Risk Mitigation Continue</vt:lpstr>
      <vt:lpstr>Comparison: Threat Modeling vs. Vulnerability Assessments </vt:lpstr>
      <vt:lpstr>  Risk Acceptance Criteria </vt:lpstr>
      <vt:lpstr>Risk Acceptance Criteria: Continuity</vt:lpstr>
      <vt:lpstr>Documentation and Monitoring Process </vt:lpstr>
      <vt:lpstr>Monitoring</vt:lpstr>
      <vt:lpstr>Ongoing Monitoring and Risk Management </vt:lpstr>
      <vt:lpstr>Approach 1: Automated Monitoring Tools </vt:lpstr>
      <vt:lpstr>Approach 1: Automated Monitoring Tools: Continuity </vt:lpstr>
      <vt:lpstr>Approach 2: Periodic Assessments and Audits </vt:lpstr>
      <vt:lpstr>Periodic Assessments and Audits: continuity </vt:lpstr>
      <vt:lpstr>Comparison: Threat Modeling vs. Vulnerability Assessments </vt:lpstr>
      <vt:lpstr>Conclusion</vt:lpstr>
      <vt:lpstr>Thanks for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S6KoJ6LoPEuz4IwX</dc:creator>
  <cp:lastModifiedBy>S6KoJ6LoPEuz4IwX</cp:lastModifiedBy>
  <cp:revision>2</cp:revision>
  <dcterms:created xsi:type="dcterms:W3CDTF">2025-08-19T09:24:56Z</dcterms:created>
  <dcterms:modified xsi:type="dcterms:W3CDTF">2025-08-19T11:11:14Z</dcterms:modified>
</cp:coreProperties>
</file>